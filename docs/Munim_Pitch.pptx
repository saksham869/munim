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Expected net per campaign (₹)</c:v>
                </c:pt>
              </c:strCache>
            </c:strRef>
          </c:tx>
          <c:spPr>
            <a:solidFill>
              <a:srgbClr val="8C1C2B"/>
            </a:solidFill>
            <a:effectLst/>
          </c:spPr>
          <c:invertIfNegative val="0"/>
          <c:dLbls>
            <c:numFmt formatCode="₹0.0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Keep every offer</c:v>
                  </c:pt>
                  <c:pt idx="1">
                    <c:v>Shop's own data</c:v>
                  </c:pt>
                  <c:pt idx="2">
                    <c:v>Munim, pooled</c:v>
                  </c:pt>
                  <c:pt idx="3">
                    <c:v>Perfect hindsight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-17.85</c:v>
                </c:pt>
                <c:pt idx="1">
                  <c:v>10.21</c:v>
                </c:pt>
                <c:pt idx="2">
                  <c:v>15.85</c:v>
                </c:pt>
                <c:pt idx="3">
                  <c:v>32.42</c:v>
                </c:pt>
              </c:numCache>
            </c:numRef>
          </c:val>
        </c:ser>
        <c:dLbls>
          <c:numFmt formatCode="₹0.0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3A4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-2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spc="200" kern="0" dirty="0">
                <a:solidFill>
                  <a:srgbClr val="E3A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PAYTM BUILD FOR INDIA AI HACKATHON  ·  DELHI      TRACK 1  ·  MERCHANT GROWTH 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Munim</a:t>
            </a:r>
            <a:endParaRPr lang="en-US" sz="8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42316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600" dirty="0">
                <a:solidFill>
                  <a:srgbClr val="F2D8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CFO for every merchant's AI growth agent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20040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D7D7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Paytm is giving merchants AI agents that can spend money on growth. Munim decides how much they may spend, makes every offer prove itself, and stops what does not pay.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543800" y="1143000"/>
            <a:ext cx="4023360" cy="3154680"/>
          </a:xfrm>
          <a:prstGeom prst="roundRect">
            <a:avLst>
              <a:gd name="adj" fmla="val 2319"/>
            </a:avLst>
          </a:prstGeom>
          <a:solidFill>
            <a:srgbClr val="2A2A31"/>
          </a:solidFill>
          <a:ln w="9525">
            <a:solidFill>
              <a:srgbClr val="3A3A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0" y="13258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spc="200" kern="0" dirty="0">
                <a:solidFill>
                  <a:srgbClr val="E3A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SOUNDBOX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772400" y="1581912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Manzoori chahiye: 32 grahakon ko ₹250+ par ₹15 cashback, zyada se zyada ₹480.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772400" y="2569464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B9B9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your OK: ₹15 cashback on ₹250+ bills for 32 customers, up to ₹480.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0" y="39319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A9A9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asked. Munim checked. The owner decides.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72400" y="324612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1F7A4D"/>
          </a:solidFill>
          <a:ln w="12700">
            <a:solidFill>
              <a:srgbClr val="1F7A4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0" y="327812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HAAN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15400" y="324612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55555E"/>
          </a:solidFill>
          <a:ln w="12700">
            <a:solidFill>
              <a:srgbClr val="55555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915400" y="327812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NAHI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5257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Satyam Mishra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623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9A9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github.com/saksham869/munim     ·     Live demo: saksham869.github.io/munim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spc="200" kern="0" dirty="0">
                <a:solidFill>
                  <a:srgbClr val="8C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Agents now spend merchants' money. Nobody is the CFO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Munim  ·  Paytm Build for India AI Hackathon, Delhi  ·  Track 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5855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5400" b="1" dirty="0">
                <a:solidFill>
                  <a:srgbClr val="8C1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1.57 Cr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060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merchants on Paytm Soundbox and devices (Q1 FY27)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10896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Paytm is building agents for merchant marketing and customer engagement, and Pi Agents already run campaigns, loyalty and cashback for small businesses.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48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an agent a budget and three things go wrong: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120640" y="1783080"/>
            <a:ext cx="6519672" cy="1371600"/>
          </a:xfrm>
          <a:prstGeom prst="roundRect">
            <a:avLst>
              <a:gd name="adj" fmla="val 5333"/>
            </a:avLst>
          </a:prstGeom>
          <a:solidFill>
            <a:srgbClr val="F5F4F2"/>
          </a:solidFill>
          <a:ln w="9525">
            <a:solidFill>
              <a:srgbClr val="DEDBD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349240" y="1965960"/>
            <a:ext cx="1344168" cy="274320"/>
          </a:xfrm>
          <a:prstGeom prst="roundRect">
            <a:avLst>
              <a:gd name="adj" fmla="val 50000"/>
            </a:avLst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49240" y="1997964"/>
            <a:ext cx="1344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OVERSPEND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349240" y="2304288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Cashback bigger than the margin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349240" y="2624328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₹40 back on a typical ₹341 bill at 12% margin loses money even if every customer comes back.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120640" y="3264408"/>
            <a:ext cx="6519672" cy="1371600"/>
          </a:xfrm>
          <a:prstGeom prst="roundRect">
            <a:avLst>
              <a:gd name="adj" fmla="val 5333"/>
            </a:avLst>
          </a:prstGeom>
          <a:solidFill>
            <a:srgbClr val="F5F4F2"/>
          </a:solidFill>
          <a:ln w="9525">
            <a:solidFill>
              <a:srgbClr val="DEDBD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49240" y="3447288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49240" y="347929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DEADWEIGHT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349240" y="3785616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Paying people who'd come anyway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5349240" y="4105656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51.3% of occasional shoppers return within 14 days on their own. Most cashback sent to them is wasted.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120640" y="4745736"/>
            <a:ext cx="6519672" cy="1371600"/>
          </a:xfrm>
          <a:prstGeom prst="roundRect">
            <a:avLst>
              <a:gd name="adj" fmla="val 5333"/>
            </a:avLst>
          </a:prstGeom>
          <a:solidFill>
            <a:srgbClr val="F5F4F2"/>
          </a:solidFill>
          <a:ln w="9525">
            <a:solidFill>
              <a:srgbClr val="DEDBD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49240" y="4928616"/>
            <a:ext cx="1225296" cy="274320"/>
          </a:xfrm>
          <a:prstGeom prst="roundRect">
            <a:avLst>
              <a:gd name="adj" fmla="val 50000"/>
            </a:avLst>
          </a:prstGeom>
          <a:solidFill>
            <a:srgbClr val="3A3A42"/>
          </a:solidFill>
          <a:ln w="12700">
            <a:solidFill>
              <a:srgbClr val="3A3A4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49240" y="4960620"/>
            <a:ext cx="1225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PROOF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349240" y="5266944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shop can't tell what worked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5349240" y="5586984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6–9 person comparison group, the shop's own numbers would have killed the offer that worked and kept the one that did not.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25780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numbers come from Munim's run on a synthetic kirana (see the live demo). Kirana margins are already thin: a distributors' federation estimates about 2 lakh kiranas shut in a year amid quick commerce (AICPDF, 2024).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spc="200" kern="0" dirty="0">
                <a:solidFill>
                  <a:srgbClr val="8C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Munim: a spending limit and a scorecard for every growth agent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Munim  ·  Paytm Build for India AI Hackathon, Delhi  ·  Track 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5855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103120" cy="2834640"/>
          </a:xfrm>
          <a:prstGeom prst="roundRect">
            <a:avLst>
              <a:gd name="adj" fmla="val 3478"/>
            </a:avLst>
          </a:prstGeom>
          <a:solidFill>
            <a:srgbClr val="F5F4F2"/>
          </a:solidFill>
          <a:ln w="9525">
            <a:solidFill>
              <a:srgbClr val="DEDBD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1984248"/>
            <a:ext cx="457200" cy="457200"/>
          </a:xfrm>
          <a:prstGeom prst="ellipse">
            <a:avLst/>
          </a:prstGeom>
          <a:solidFill>
            <a:srgbClr val="1B1B1F"/>
          </a:solidFill>
          <a:ln w="12700">
            <a:solidFill>
              <a:srgbClr val="1B1B1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0665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6060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 sets rules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990088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Once, by voice on the Soundbox: ₹500 a week, keep 6% on every bill, ask me above ₹300.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660904" y="3200400"/>
            <a:ext cx="123444" cy="914"/>
          </a:xfrm>
          <a:prstGeom prst="line">
            <a:avLst/>
          </a:prstGeom>
          <a:noFill/>
          <a:ln w="19050">
            <a:solidFill>
              <a:srgbClr val="8C1C2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793492" y="1783080"/>
            <a:ext cx="2103120" cy="2834640"/>
          </a:xfrm>
          <a:prstGeom prst="roundRect">
            <a:avLst>
              <a:gd name="adj" fmla="val 3478"/>
            </a:avLst>
          </a:prstGeom>
          <a:solidFill>
            <a:srgbClr val="F5F4F2"/>
          </a:solidFill>
          <a:ln w="9525">
            <a:solidFill>
              <a:srgbClr val="DEDBD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94660" y="1984248"/>
            <a:ext cx="457200" cy="457200"/>
          </a:xfrm>
          <a:prstGeom prst="ellipse">
            <a:avLst/>
          </a:prstGeom>
          <a:solidFill>
            <a:srgbClr val="1B1B1F"/>
          </a:solidFill>
          <a:ln w="12700">
            <a:solidFill>
              <a:srgbClr val="1B1B1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94660" y="20665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994660" y="26060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proposes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2994660" y="2990088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Agents or any LLM suggests an offer: which customers, how much cashback, what minimum bill.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905756" y="3200400"/>
            <a:ext cx="123444" cy="914"/>
          </a:xfrm>
          <a:prstGeom prst="line">
            <a:avLst/>
          </a:prstGeom>
          <a:noFill/>
          <a:ln w="19050">
            <a:solidFill>
              <a:srgbClr val="8C1C2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038344" y="1783080"/>
            <a:ext cx="2103120" cy="2834640"/>
          </a:xfrm>
          <a:prstGeom prst="roundRect">
            <a:avLst>
              <a:gd name="adj" fmla="val 3478"/>
            </a:avLst>
          </a:prstGeom>
          <a:solidFill>
            <a:srgbClr val="FBF3F4"/>
          </a:solidFill>
          <a:ln w="9525">
            <a:solidFill>
              <a:srgbClr val="E7C3C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39512" y="1984248"/>
            <a:ext cx="457200" cy="457200"/>
          </a:xfrm>
          <a:prstGeom prst="ellipse">
            <a:avLst/>
          </a:prstGeom>
          <a:solidFill>
            <a:srgbClr val="8C1C2B"/>
          </a:solidFill>
          <a:ln w="12700">
            <a:solidFill>
              <a:srgbClr val="8C1C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39512" y="20665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239512" y="26060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Munim decides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239512" y="2990088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it inside the rules. Hold big spends for the owner's "haan". Refuse with the exact fix.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239512" y="4178808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1F7A4D"/>
          </a:solidFill>
          <a:ln w="12700">
            <a:solidFill>
              <a:srgbClr val="1F7A4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239512" y="421081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43016" y="4178808"/>
            <a:ext cx="530352" cy="274320"/>
          </a:xfrm>
          <a:prstGeom prst="roundRect">
            <a:avLst>
              <a:gd name="adj" fmla="val 50000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843016" y="4210812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9944" y="4178808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9944" y="4210812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50608" y="3200400"/>
            <a:ext cx="123444" cy="914"/>
          </a:xfrm>
          <a:prstGeom prst="line">
            <a:avLst/>
          </a:prstGeom>
          <a:noFill/>
          <a:ln w="19050">
            <a:solidFill>
              <a:srgbClr val="8C1C2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283196" y="1783080"/>
            <a:ext cx="2103120" cy="2834640"/>
          </a:xfrm>
          <a:prstGeom prst="roundRect">
            <a:avLst>
              <a:gd name="adj" fmla="val 3478"/>
            </a:avLst>
          </a:prstGeom>
          <a:solidFill>
            <a:srgbClr val="F5F4F2"/>
          </a:solidFill>
          <a:ln w="9525">
            <a:solidFill>
              <a:srgbClr val="DEDBD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84364" y="1984248"/>
            <a:ext cx="457200" cy="457200"/>
          </a:xfrm>
          <a:prstGeom prst="ellipse">
            <a:avLst/>
          </a:prstGeom>
          <a:solidFill>
            <a:srgbClr val="1B1B1F"/>
          </a:solidFill>
          <a:ln w="12700">
            <a:solidFill>
              <a:srgbClr val="1B1B1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484364" y="20665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7484364" y="26060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Paytm runs it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7484364" y="2990088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signed, single-use passport releases the offer. 20% of customers are held back to compare.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9395460" y="3200400"/>
            <a:ext cx="123444" cy="914"/>
          </a:xfrm>
          <a:prstGeom prst="line">
            <a:avLst/>
          </a:prstGeom>
          <a:noFill/>
          <a:ln w="19050">
            <a:solidFill>
              <a:srgbClr val="8C1C2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9528048" y="1783080"/>
            <a:ext cx="2103120" cy="2834640"/>
          </a:xfrm>
          <a:prstGeom prst="roundRect">
            <a:avLst>
              <a:gd name="adj" fmla="val 3478"/>
            </a:avLst>
          </a:prstGeom>
          <a:solidFill>
            <a:srgbClr val="F5F4F2"/>
          </a:solidFill>
          <a:ln w="9525">
            <a:solidFill>
              <a:srgbClr val="DEDBD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729216" y="1984248"/>
            <a:ext cx="457200" cy="457200"/>
          </a:xfrm>
          <a:prstGeom prst="ellipse">
            <a:avLst/>
          </a:prstGeom>
          <a:solidFill>
            <a:srgbClr val="1B1B1F"/>
          </a:solidFill>
          <a:ln w="12700">
            <a:solidFill>
              <a:srgbClr val="1B1B1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729216" y="20665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9729216" y="26060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Munim reports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9729216" y="2990088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day 14, in Hinglish on the Soundbox. Kept if it pays, stopped if not, unused budget returned.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48640" y="4800600"/>
            <a:ext cx="5486400" cy="1371600"/>
          </a:xfrm>
          <a:prstGeom prst="roundRect">
            <a:avLst>
              <a:gd name="adj" fmla="val 5333"/>
            </a:avLst>
          </a:prstGeom>
          <a:solidFill>
            <a:srgbClr val="F0EEEA"/>
          </a:solidFill>
          <a:ln w="9525">
            <a:solidFill>
              <a:srgbClr val="DEDBD5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77240" y="4983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spc="200" kern="0" dirty="0">
                <a:solidFill>
                  <a:srgbClr val="8C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SOUNDBOX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777240" y="52395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"Munim, sab band karo."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777240" y="560527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switch in one sentence: from then on, every offer waits for the owner.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63640" y="4800600"/>
            <a:ext cx="5376672" cy="1371600"/>
          </a:xfrm>
          <a:prstGeom prst="roundRect">
            <a:avLst>
              <a:gd name="adj" fmla="val 5333"/>
            </a:avLst>
          </a:prstGeom>
          <a:solidFill>
            <a:srgbClr val="F5F4F2"/>
          </a:solidFill>
          <a:ln w="9525">
            <a:solidFill>
              <a:srgbClr val="DEDBD5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492240" y="498348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spc="200" kern="0" dirty="0">
                <a:solidFill>
                  <a:srgbClr val="8C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TAMPER-EVIDENT LEDGER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6492240" y="525780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proposal, decision, approval, payout and result is hash-chained. Change one entry and every later hash breaks.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spc="200" kern="0" dirty="0">
                <a:solidFill>
                  <a:srgbClr val="8C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 proposes. Munim, with no LLM inside, decides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Munim  ·  Paytm Build for India AI Hackathon, Delhi  ·  Track 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5855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5F4F2"/>
          </a:solidFill>
          <a:ln w="9525">
            <a:solidFill>
              <a:srgbClr val="DEDBD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8928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Paytm payments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1945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4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months of UPI and card payments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78308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F5F4F2"/>
          </a:solidFill>
          <a:ln w="9525">
            <a:solidFill>
              <a:srgbClr val="DEDBD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89280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Trusted insights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1945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4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Segments, how often they return on their own, typical bill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926080" y="2212848"/>
            <a:ext cx="365760" cy="914"/>
          </a:xfrm>
          <a:prstGeom prst="line">
            <a:avLst/>
          </a:prstGeom>
          <a:noFill/>
          <a:ln w="19050">
            <a:solidFill>
              <a:srgbClr val="6B6B7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8640" y="3017520"/>
            <a:ext cx="2377440" cy="1097280"/>
          </a:xfrm>
          <a:prstGeom prst="roundRect">
            <a:avLst>
              <a:gd name="adj" fmla="val 6667"/>
            </a:avLst>
          </a:prstGeom>
          <a:solidFill>
            <a:srgbClr val="FFF6E5"/>
          </a:solidFill>
          <a:ln w="9525">
            <a:solidFill>
              <a:srgbClr val="EBCB8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1272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Growth agent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42900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4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Agents or any LLM. Untrusted. Holds no money and no keys.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91840" y="28803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8C1C2B"/>
          </a:solidFill>
          <a:ln w="9525">
            <a:solidFill>
              <a:srgbClr val="8C1C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429000" y="29900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Munim policy engine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429000" y="329184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E9D5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floor · weekly budget · payback counting deadweight · consent · offer frequency · comparison group · kill switch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2651760"/>
            <a:ext cx="914" cy="228600"/>
          </a:xfrm>
          <a:prstGeom prst="line">
            <a:avLst/>
          </a:prstGeom>
          <a:noFill/>
          <a:ln w="19050">
            <a:solidFill>
              <a:srgbClr val="6B6B7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926080" y="3566160"/>
            <a:ext cx="365760" cy="914"/>
          </a:xfrm>
          <a:prstGeom prst="line">
            <a:avLst/>
          </a:prstGeom>
          <a:noFill/>
          <a:ln w="19050">
            <a:solidFill>
              <a:srgbClr val="8C1C2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H="1">
            <a:off x="2514600" y="2651760"/>
            <a:ext cx="777240" cy="365760"/>
          </a:xfrm>
          <a:prstGeom prst="line">
            <a:avLst/>
          </a:prstGeom>
          <a:noFill/>
          <a:ln w="12700">
            <a:solidFill>
              <a:srgbClr val="6B6B73"/>
            </a:solidFill>
            <a:prstDash val="dash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263640" y="2926080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1F7A4D"/>
          </a:solidFill>
          <a:ln w="12700">
            <a:solidFill>
              <a:srgbClr val="1F7A4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63640" y="2958084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63640" y="3429000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63640" y="3461004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263640" y="3931920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63640" y="3963924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35040" y="3566160"/>
            <a:ext cx="228600" cy="914"/>
          </a:xfrm>
          <a:prstGeom prst="line">
            <a:avLst/>
          </a:prstGeom>
          <a:noFill/>
          <a:ln w="19050">
            <a:solidFill>
              <a:srgbClr val="6B6B73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7059168" y="331012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i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owner's haan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7022592" y="3968496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fix to the agent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949440" y="3063240"/>
            <a:ext cx="1463040" cy="914"/>
          </a:xfrm>
          <a:prstGeom prst="line">
            <a:avLst/>
          </a:prstGeom>
          <a:noFill/>
          <a:ln w="19050">
            <a:solidFill>
              <a:srgbClr val="1F7A4D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6949440" y="3566160"/>
            <a:ext cx="1463040" cy="914"/>
          </a:xfrm>
          <a:prstGeom prst="line">
            <a:avLst/>
          </a:prstGeom>
          <a:noFill/>
          <a:ln w="19050">
            <a:solidFill>
              <a:srgbClr val="1F7A4D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8412480" y="3063240"/>
            <a:ext cx="914" cy="1325880"/>
          </a:xfrm>
          <a:prstGeom prst="line">
            <a:avLst/>
          </a:prstGeom>
          <a:noFill/>
          <a:ln w="19050">
            <a:solidFill>
              <a:srgbClr val="1F7A4D"/>
            </a:solidFill>
            <a:prstDash val="solid"/>
            <a:tailEnd type="none"/>
          </a:ln>
        </p:spPr>
      </p:sp>
      <p:sp>
        <p:nvSpPr>
          <p:cNvPr id="34" name="Shape 32"/>
          <p:cNvSpPr/>
          <p:nvPr/>
        </p:nvSpPr>
        <p:spPr>
          <a:xfrm flipH="1">
            <a:off x="1463040" y="4389120"/>
            <a:ext cx="6949440" cy="914"/>
          </a:xfrm>
          <a:prstGeom prst="line">
            <a:avLst/>
          </a:prstGeom>
          <a:noFill/>
          <a:ln w="19050">
            <a:solidFill>
              <a:srgbClr val="1F7A4D"/>
            </a:solidFill>
            <a:prstDash val="solid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1463040" y="4389120"/>
            <a:ext cx="914" cy="182880"/>
          </a:xfrm>
          <a:prstGeom prst="line">
            <a:avLst/>
          </a:prstGeom>
          <a:noFill/>
          <a:ln w="19050">
            <a:solidFill>
              <a:srgbClr val="1F7A4D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548640" y="457200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F5F4F2"/>
          </a:solidFill>
          <a:ln w="9525">
            <a:solidFill>
              <a:srgbClr val="DEDBD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85800" y="46817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 passport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685800" y="49834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4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HMAC-signed, single use, expires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2377440" y="5047488"/>
            <a:ext cx="182880" cy="914"/>
          </a:xfrm>
          <a:prstGeom prst="line">
            <a:avLst/>
          </a:prstGeom>
          <a:noFill/>
          <a:ln w="19050">
            <a:solidFill>
              <a:srgbClr val="6B6B73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2560320" y="457200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F5F4F2"/>
          </a:solidFill>
          <a:ln w="9525">
            <a:solidFill>
              <a:srgbClr val="DEDBD5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697480" y="46817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Paytm offer rails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697480" y="49834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4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Cashback to chosen customers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389120" y="5047488"/>
            <a:ext cx="182880" cy="914"/>
          </a:xfrm>
          <a:prstGeom prst="line">
            <a:avLst/>
          </a:prstGeom>
          <a:noFill/>
          <a:ln w="19050">
            <a:solidFill>
              <a:srgbClr val="6B6B73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4572000" y="457200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F5F4F2"/>
          </a:solidFill>
          <a:ln w="9525">
            <a:solidFill>
              <a:srgbClr val="DEDBD5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709160" y="46817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Measurement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4709160" y="49834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4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Holdout vs pooled baseline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400800" y="5047488"/>
            <a:ext cx="182880" cy="914"/>
          </a:xfrm>
          <a:prstGeom prst="line">
            <a:avLst/>
          </a:prstGeom>
          <a:noFill/>
          <a:ln w="19050">
            <a:solidFill>
              <a:srgbClr val="6B6B73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6583680" y="457200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F5F4F2"/>
          </a:solidFill>
          <a:ln w="9525">
            <a:solidFill>
              <a:srgbClr val="DEDBD5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720840" y="46817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Soundbox report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6720840" y="49834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4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Hinglish; numbers from the ledger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48640" y="5715000"/>
            <a:ext cx="7863840" cy="384048"/>
          </a:xfrm>
          <a:prstGeom prst="rect">
            <a:avLst/>
          </a:prstGeom>
          <a:solidFill>
            <a:srgbClr val="F0EEEA"/>
          </a:solidFill>
          <a:ln w="9525">
            <a:solidFill>
              <a:srgbClr val="DEDBD5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85800" y="5788152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hash-chained ledger under every step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8641080" y="1783080"/>
            <a:ext cx="2999232" cy="4315968"/>
          </a:xfrm>
          <a:prstGeom prst="roundRect">
            <a:avLst>
              <a:gd name="adj" fmla="val 2439"/>
            </a:avLst>
          </a:prstGeom>
          <a:solidFill>
            <a:srgbClr val="FBF3F4"/>
          </a:solidFill>
          <a:ln w="9525">
            <a:solidFill>
              <a:srgbClr val="E7C3C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8869680" y="19659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200" kern="0" dirty="0">
                <a:solidFill>
                  <a:srgbClr val="8C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GUARANTEES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8869680" y="233172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never touches money or keys.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8869680" y="306324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 come from Paytm data, never from the agent.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8869680" y="379476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can't pick who is held back: the split is salted with a secret.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8869680" y="452628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error inside Munim means no.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8869680" y="52578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Soundbox numbers come from the ledger, never from the model.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spc="200" kern="0" dirty="0">
                <a:solidFill>
                  <a:srgbClr val="8C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ONE RUN, EVERY NUMBER FROM THE ENGINE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decisions on a synthetic kirana in Ghaziabad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Munim  ·  Paytm Build for India AI Hackathon, Delhi  ·  Track 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5855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630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Sharma General Store (synthetic): 650 customers, 13,772 payments in 6 months. 48 regulars stopped coming; they used to spend about ₹1,28,000 a month.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3593592" cy="1847088"/>
          </a:xfrm>
          <a:prstGeom prst="roundRect">
            <a:avLst>
              <a:gd name="adj" fmla="val 3960"/>
            </a:avLst>
          </a:prstGeom>
          <a:solidFill>
            <a:srgbClr val="F5F4F2"/>
          </a:solidFill>
          <a:ln w="9525">
            <a:solidFill>
              <a:srgbClr val="DEDBD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2103120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2135124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593592" y="21214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2468880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Agent: ₹40 back on any bill over ₹100, nobody held back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" y="2999232"/>
            <a:ext cx="3191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reasons, each with a fix: at most ₹6 at that bill (try ₹15 on ₹250+) · hold back 20% · ₹1,280 is over the ₹500 budget · loses money even if all return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297680" y="1920240"/>
            <a:ext cx="3593592" cy="1847088"/>
          </a:xfrm>
          <a:prstGeom prst="roundRect">
            <a:avLst>
              <a:gd name="adj" fmla="val 3960"/>
            </a:avLst>
          </a:prstGeom>
          <a:solidFill>
            <a:srgbClr val="F5F4F2"/>
          </a:solidFill>
          <a:ln w="9525">
            <a:solidFill>
              <a:srgbClr val="DEDBD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98848" y="2103120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498848" y="2135124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7342632" y="21214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498848" y="2468880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Replan: ₹15 back on ₹250+, 32 customers, 9 held back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98848" y="2999232"/>
            <a:ext cx="3191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case ₹480 is above the ₹300 limit. Owner says "haan"; Munim re-checks, then releases it.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046720" y="1920240"/>
            <a:ext cx="3593592" cy="1847088"/>
          </a:xfrm>
          <a:prstGeom prst="roundRect">
            <a:avLst>
              <a:gd name="adj" fmla="val 3960"/>
            </a:avLst>
          </a:prstGeom>
          <a:solidFill>
            <a:srgbClr val="F5F4F2"/>
          </a:solidFill>
          <a:ln w="9525">
            <a:solidFill>
              <a:srgbClr val="DEDBD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47888" y="2103120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47888" y="2135124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1091672" y="21214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247888" y="2468880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Agent: ₹12 back for occasional shoppers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8247888" y="2999232"/>
            <a:ext cx="3191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51.3% come back anyway; breaking even needs 29.0 pp more. Most it can be: ₹10.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3931920"/>
            <a:ext cx="3593592" cy="1847088"/>
          </a:xfrm>
          <a:prstGeom prst="roundRect">
            <a:avLst>
              <a:gd name="adj" fmla="val 3960"/>
            </a:avLst>
          </a:prstGeom>
          <a:solidFill>
            <a:srgbClr val="F5F4F2"/>
          </a:solidFill>
          <a:ln w="9525">
            <a:solidFill>
              <a:srgbClr val="DEDBD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9808" y="411480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1F7A4D"/>
          </a:solidFill>
          <a:ln w="12700">
            <a:solidFill>
              <a:srgbClr val="1F7A4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49808" y="4146804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3593592" y="413308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49808" y="4480560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₹10 back on ₹200+, 22 customers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49808" y="5010912"/>
            <a:ext cx="3191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every rule (worst case ₹220), so it runs without asking. It is still measured.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297680" y="3931920"/>
            <a:ext cx="3593592" cy="1847088"/>
          </a:xfrm>
          <a:prstGeom prst="roundRect">
            <a:avLst>
              <a:gd name="adj" fmla="val 3960"/>
            </a:avLst>
          </a:prstGeom>
          <a:solidFill>
            <a:srgbClr val="F5F4F2"/>
          </a:solidFill>
          <a:ln w="9525">
            <a:solidFill>
              <a:srgbClr val="DEDBD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498848" y="4114800"/>
            <a:ext cx="1106424" cy="274320"/>
          </a:xfrm>
          <a:prstGeom prst="roundRect">
            <a:avLst>
              <a:gd name="adj" fmla="val 50000"/>
            </a:avLst>
          </a:prstGeom>
          <a:solidFill>
            <a:srgbClr val="3A3A42"/>
          </a:solidFill>
          <a:ln w="12700">
            <a:solidFill>
              <a:srgbClr val="3A3A4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98848" y="4146804"/>
            <a:ext cx="1106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7342632" y="413308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4498848" y="4480560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 21: the ₹10 nudge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4498848" y="5010912"/>
            <a:ext cx="3191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₹110 spent, 12% chance it made money. Stopped automatically; ₹110 back in the budget.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8046720" y="3931920"/>
            <a:ext cx="3593592" cy="1847088"/>
          </a:xfrm>
          <a:prstGeom prst="roundRect">
            <a:avLst>
              <a:gd name="adj" fmla="val 3960"/>
            </a:avLst>
          </a:prstGeom>
          <a:solidFill>
            <a:srgbClr val="F5F4F2"/>
          </a:solidFill>
          <a:ln w="9525">
            <a:solidFill>
              <a:srgbClr val="DEDBD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247888" y="4114800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247888" y="4146804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11091672" y="413308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#6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247888" y="4480560"/>
            <a:ext cx="3191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Kill switch: "Munim, sab band karo"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8247888" y="5010912"/>
            <a:ext cx="3191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agent's next offer (worst case ₹120) would have been allowed. Now it waits for the owner.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548640" y="5989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8C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Ledger: 20 entries, intact. Change one verdict and the chain breaks at entry 17.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spc="200" kern="0" dirty="0">
                <a:solidFill>
                  <a:srgbClr val="8C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PROOF, NOT CLAIMS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shop is too small to measure. Paytm's network is not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Munim  ·  Paytm Build for India AI Hackathon, Delhi  ·  Track 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5855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run, two ways to judge it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60350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234440"/>
                <a:gridCol w="1600200"/>
                <a:gridCol w="1783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Truth (simulated)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Shop's own data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Munim, pooled baseline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B1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back regulars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Works: +20 pp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4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it (6% chance of profit) 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7A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 it (93% it brings customers back) 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Nudge occasional shoppers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 nothing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B4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 it (90% chance of profit) 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7A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it (12% chance of profit) 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3950208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by chance 5 of 9 held-back regulars came back anyway, and 0 of 6 occasional shoppers did. A baseline pooled from similar shops absorbs that noise.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7548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8C1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2011680" y="4864608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keep/stop calls</a:t>
            </a:r>
            <a:endParaRPr lang="en-US" sz="11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(shop's own data: 68%)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703320" y="475488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8C1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24%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5074920" y="4864608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profitable offers wrongly stopped (45%)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62356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simulated campaigns with known truth. Honest cost: pooling keeps slightly more losing offers (25% vs 23%).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6903720" y="16916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profit per campaign (₹)</a:t>
            </a:r>
            <a:endParaRPr lang="en-US" sz="16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812280" y="2011680"/>
          <a:ext cx="48463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2"/>
          <p:cNvSpPr txBox="1"/>
          <p:nvPr/>
        </p:nvSpPr>
        <p:spPr>
          <a:xfrm>
            <a:off x="6903720" y="5623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no measurement, a budget-holding agent loses money on average. Munim turns it positive.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spc="200" kern="0" dirty="0">
                <a:solidFill>
                  <a:srgbClr val="8C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/ TECH STACK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Small, deterministic, and ready to plug into Paytm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Munim  ·  Paytm Build for India AI Hackathon, Delhi  ·  Track 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5855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6400800" cy="4343400"/>
          </a:xfrm>
          <a:prstGeom prst="roundRect">
            <a:avLst>
              <a:gd name="adj" fmla="val 1684"/>
            </a:avLst>
          </a:prstGeom>
          <a:solidFill>
            <a:srgbClr val="F5F4F2"/>
          </a:solidFill>
          <a:ln w="9525">
            <a:solidFill>
              <a:srgbClr val="DEDBD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9659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200" kern="0" dirty="0">
                <a:solidFill>
                  <a:srgbClr val="8C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BUILT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engine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468880" y="233172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Python, integer paise and basis points, no dependencies, fails closed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7889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468880" y="278892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Beta-binomial posteriors, pooled baselines, profit-probability verdicts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2461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468880" y="324612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HMAC-SHA256 passports, race-safe weekly budget, kill switch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7033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468880" y="370332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hash chain, verified in one call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1605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468880" y="416052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FastAPI; boots on a synthetic kirana with zero setup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617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adapter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2468880" y="461772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OpenAI-compatible endpoint (Pi Inference, Groq, OpenAI); output parsed, never trusted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0749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468880" y="507492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rules mirrored in JavaScript, parity-tested against the Python engine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55321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2468880" y="553212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143 automated tests (pytest)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178040" y="1783080"/>
            <a:ext cx="4462272" cy="4343400"/>
          </a:xfrm>
          <a:prstGeom prst="roundRect">
            <a:avLst>
              <a:gd name="adj" fmla="val 1684"/>
            </a:avLst>
          </a:prstGeom>
          <a:solidFill>
            <a:srgbClr val="FBF3F4"/>
          </a:solidFill>
          <a:ln w="9525">
            <a:solidFill>
              <a:srgbClr val="E7C3C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52360" y="19659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200" kern="0" dirty="0">
                <a:solidFill>
                  <a:srgbClr val="8C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PLUGS INTO PAYTM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452360" y="2377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8C1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Soundbox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452360" y="267004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by voice, Hinglish results, "haan" to approve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7452360" y="31089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8C1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 Agents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7452360" y="340156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proposer; Munim sits between it and the money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7452360" y="3840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8C1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Payments data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452360" y="413308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Segments, return rates, typical bills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7452360" y="45720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8C1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Offer rails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7452360" y="48646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Merchant-funded cashback (mock adapter in demo)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7452360" y="53035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8C1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WhatsApp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7452360" y="559612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messages through Pi's channels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spc="200" kern="0" dirty="0">
                <a:solidFill>
                  <a:srgbClr val="8C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Guardrails stop bad prompts. Munim stops bad spending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Munim  ·  Paytm Build for India AI Hackathon, Delhi  ·  Track 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5855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502920" cy="502920"/>
          </a:xfrm>
          <a:prstGeom prst="ellipse">
            <a:avLst/>
          </a:prstGeom>
          <a:solidFill>
            <a:srgbClr val="8C1C2B"/>
          </a:solidFill>
          <a:ln w="12700">
            <a:solidFill>
              <a:srgbClr val="8C1C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938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7830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Economic authority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121408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guardrails already exist. Nothing else answers: how much may this agent spend, and did it pay?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8C1C2B"/>
          </a:solidFill>
          <a:ln w="12700">
            <a:solidFill>
              <a:srgbClr val="8C1C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79806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265176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Deadweight-aware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990088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cashback paid to customers who'd come anyway, and refuses offers that can't pay back.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502920" cy="502920"/>
          </a:xfrm>
          <a:prstGeom prst="ellipse">
            <a:avLst/>
          </a:prstGeom>
          <a:solidFill>
            <a:srgbClr val="8C1C2B"/>
          </a:solidFill>
          <a:ln w="12700">
            <a:solidFill>
              <a:srgbClr val="8C1C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66674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352044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 by default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858768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offer keeps a comparison group, and the agent cannot choose who is in it.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E3A72F"/>
          </a:solidFill>
          <a:ln w="12700">
            <a:solidFill>
              <a:srgbClr val="E3A72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53542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43891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Network-powered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4727448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Pooled baselines turn a 30-customer campaign into a decision. Only Paytm has that network.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48640" y="5303520"/>
            <a:ext cx="502920" cy="502920"/>
          </a:xfrm>
          <a:prstGeom prst="ellipse">
            <a:avLst/>
          </a:prstGeom>
          <a:solidFill>
            <a:srgbClr val="8C1C2B"/>
          </a:solidFill>
          <a:ln w="12700">
            <a:solidFill>
              <a:srgbClr val="8C1C2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540410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280160" y="52578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 by construction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1280160" y="5596128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LLM in the money path. Errors mean no. Every decision in a tamper-evident ledger.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8001000" y="1783080"/>
            <a:ext cx="3639312" cy="4206240"/>
          </a:xfrm>
          <a:prstGeom prst="roundRect">
            <a:avLst>
              <a:gd name="adj" fmla="val 2010"/>
            </a:avLst>
          </a:prstGeom>
          <a:solidFill>
            <a:srgbClr val="F0EEEA"/>
          </a:solidFill>
          <a:ln w="9525">
            <a:solidFill>
              <a:srgbClr val="DEDBD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0" y="19659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spc="200" kern="0" dirty="0">
                <a:solidFill>
                  <a:srgbClr val="8C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SOUNDBOX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0" y="2221992"/>
            <a:ext cx="318211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ka offer roka, 4 kaaran. ₹100 ke bill par ₹40 cashback se har bill par 6% munafa nahi bachega. Sujhaav: ₹250+ ke bill par ₹15.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0" y="3621024"/>
            <a:ext cx="3182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5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Refused, 4 reasons. ₹40 back on a ₹100 bill breaks your 6% margin. Suggested: ₹15 on bills of ₹250+.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5623560"/>
            <a:ext cx="3182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owner hears when the agent overreaches.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spc="200" kern="0" dirty="0">
                <a:solidFill>
                  <a:srgbClr val="8C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&amp; BENEFITS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Growth that merchants, Paytm and customers can all trust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Munim  ·  Paytm Build for India AI Hackathon, Delhi  ·  Track 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5855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593592" cy="3017520"/>
          </a:xfrm>
          <a:prstGeom prst="roundRect">
            <a:avLst>
              <a:gd name="adj" fmla="val 2424"/>
            </a:avLst>
          </a:prstGeom>
          <a:solidFill>
            <a:srgbClr val="F5F4F2"/>
          </a:solidFill>
          <a:ln w="9525">
            <a:solidFill>
              <a:srgbClr val="DEDBD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20116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200" kern="0" dirty="0">
                <a:solidFill>
                  <a:srgbClr val="8C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286000"/>
            <a:ext cx="3136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Growth without the guesswork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3017520"/>
            <a:ext cx="31363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hard weekly cap (₹500 in the demo)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6% margin kept on every bill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plain Hindi, every two weeks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One-sentence kill switch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297680" y="1783080"/>
            <a:ext cx="3593592" cy="3017520"/>
          </a:xfrm>
          <a:prstGeom prst="roundRect">
            <a:avLst>
              <a:gd name="adj" fmla="val 2424"/>
            </a:avLst>
          </a:prstGeom>
          <a:solidFill>
            <a:srgbClr val="FBF3F4"/>
          </a:solidFill>
          <a:ln w="9525">
            <a:solidFill>
              <a:srgbClr val="E7C3C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53712" y="20116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200" kern="0" dirty="0">
                <a:solidFill>
                  <a:srgbClr val="8C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PAYTM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553712" y="2286000"/>
            <a:ext cx="3136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Agents merchants keep paying for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53712" y="3017520"/>
            <a:ext cx="31363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lift to sell Pi subscriptions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"the agent wasted my money" escalations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campaign sharpens the network baseline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safe path to agent-to-agent payments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046720" y="1783080"/>
            <a:ext cx="3593592" cy="3017520"/>
          </a:xfrm>
          <a:prstGeom prst="roundRect">
            <a:avLst>
              <a:gd name="adj" fmla="val 2424"/>
            </a:avLst>
          </a:prstGeom>
          <a:solidFill>
            <a:srgbClr val="F5F4F2"/>
          </a:solidFill>
          <a:ln w="9525">
            <a:solidFill>
              <a:srgbClr val="DEDBD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02752" y="20116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200" kern="0" dirty="0">
                <a:solidFill>
                  <a:srgbClr val="8C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302752" y="2286000"/>
            <a:ext cx="3136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Offers, not spam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302752" y="3017520"/>
            <a:ext cx="31363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customers who opted in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most 2 offers in 30 days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 sized so the shop stays healthy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Hinglish messages, clear terms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48640" y="50749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1B1B1F"/>
          </a:solidFill>
          <a:ln w="9525">
            <a:solidFill>
              <a:srgbClr val="1B1B1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5230368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2D8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-₹17.85  →  ₹15.85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4754880" y="5239512"/>
            <a:ext cx="6675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7D7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profit per campaign when an agent keeps every offer, versus when Munim measures and stops the losers (1,000 simulated campaigns).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spc="200" kern="0" dirty="0">
                <a:solidFill>
                  <a:srgbClr val="8C1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Sold with Pi Agents. Paid when it works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Munim  ·  Paytm Build for India AI Hackathon, Delhi  ·  Track 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5855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5F4F2"/>
          </a:solidFill>
          <a:ln w="9525">
            <a:solidFill>
              <a:srgbClr val="DEDBD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201168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8C1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Bundled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4231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Munim ships inside Pi Agents' plan for small businesses. It is what makes a growth agent safe to sell to a kirana.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160520" y="178308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5F4F2"/>
          </a:solidFill>
          <a:ln w="9525">
            <a:solidFill>
              <a:srgbClr val="DEDBD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16552" y="201168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8C1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Outcome tier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416552" y="24231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Paytm keeps a share (say 10%) of measured net gain, only on offers Munim marks as worked.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5F4F2"/>
          </a:solidFill>
          <a:ln w="9525">
            <a:solidFill>
              <a:srgbClr val="DEDBD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411480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8C1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Near-zero running cost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04672" y="452628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are arithmetic, not inference. The LLM only drafts offers and phrases results.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160520" y="388620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5F4F2"/>
          </a:solidFill>
          <a:ln w="9525">
            <a:solidFill>
              <a:srgbClr val="DEDBD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16552" y="411480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8C1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kiranas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416552" y="452628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A3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authority layer fits Pi's banks and insurers: collection incentives, cross-sell budgets.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909560" y="1783080"/>
            <a:ext cx="3730752" cy="4023360"/>
          </a:xfrm>
          <a:prstGeom prst="roundRect">
            <a:avLst>
              <a:gd name="adj" fmla="val 1961"/>
            </a:avLst>
          </a:prstGeom>
          <a:solidFill>
            <a:srgbClr val="1B1B1F"/>
          </a:solidFill>
          <a:ln w="9525">
            <a:solidFill>
              <a:srgbClr val="1B1B1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83880" y="201168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200" kern="0" dirty="0">
                <a:solidFill>
                  <a:srgbClr val="E3A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SCALE, ILLUSTRATED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183880" y="23774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₹18.6 Cr</a:t>
            </a:r>
            <a:endParaRPr lang="en-US" sz="4600" dirty="0"/>
          </a:p>
        </p:txBody>
      </p:sp>
      <p:sp>
        <p:nvSpPr>
          <p:cNvPr id="21" name="Text 19"/>
          <p:cNvSpPr txBox="1"/>
          <p:nvPr/>
        </p:nvSpPr>
        <p:spPr>
          <a:xfrm>
            <a:off x="8183880" y="320040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D7D7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year if 1% of 1.57 Cr Soundbox merchants paid ₹99 a month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8183880" y="3977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9A9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1.57 lakh × ₹99 × 12 = ₹18.65 Cr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183880" y="438912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A9A9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illustration of scale, not a forecast. It matches Paytm's stated plan to charge subscription plus inference for merchant agents.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1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72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 the agent grow the shop.</a:t>
            </a:r>
            <a:endParaRPr lang="en-US" sz="4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Munim keeps the money safe.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606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spc="200" kern="0" dirty="0">
                <a:solidFill>
                  <a:srgbClr val="E3A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RUNNING TODAY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9718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D7D7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Policy engine, measurement, passports, ledger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3832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D7D7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143 automated tests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7947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D7D7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1,000-campaign measurement evaluation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2062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D7D7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API and a live browser demo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2606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spc="200" kern="0" dirty="0">
                <a:solidFill>
                  <a:srgbClr val="E3A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NEXT, FOR 31 OCTOBER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9718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D7D7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Hindi voice flow on the Soundbox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33832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D7D7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Pooled baselines from real network data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7947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D7D7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Real offer-rails integration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42062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D7D7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Approval screen for the owner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E3A7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120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Satyam Mishra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5532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9A9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github.com/saksham869/munim  ·  saksham869.github.io/munim  ·  mishrasatyam3456@gmail.com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035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7C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data is synthetic. The offer API is a mock. Munim is an independent hackathon project, not a Paytm product.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Munim — Paytm Build for India AI Hackathon, Track 1</dc:title>
  <dc:subject>PptxGenJS Presentation</dc:subject>
  <dc:creator>Satyam Mishra</dc:creator>
  <cp:lastModifiedBy>Satyam Mishra</cp:lastModifiedBy>
  <cp:revision>1</cp:revision>
  <dcterms:created xsi:type="dcterms:W3CDTF">2026-10-23T07:11:50Z</dcterms:created>
  <dcterms:modified xsi:type="dcterms:W3CDTF">2026-10-23T07:11:50Z</dcterms:modified>
</cp:coreProperties>
</file>
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Expected net per campaign (₹)</c:v>
                </c:pt>
              </c:strCache>
            </c:strRef>
          </c:tx>
          <c:spPr>
            <a:solidFill>
              <a:srgbClr val="8C1C2B"/>
            </a:solidFill>
            <a:effectLst/>
          </c:spPr>
          <c:invertIfNegative val="0"/>
          <c:dLbls>
            <c:numFmt formatCode="₹0.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Keep every offer</c:v>
                  </c:pt>
                  <c:pt idx="1">
                    <c:v>Shop's own group</c:v>
                  </c:pt>
                  <c:pt idx="2">
                    <c:v>Munim, pooled</c:v>
                  </c:pt>
                  <c:pt idx="3">
                    <c:v>Perfect hindsight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-17.85</c:v>
                </c:pt>
                <c:pt idx="1">
                  <c:v>10.21</c:v>
                </c:pt>
                <c:pt idx="2">
                  <c:v>15.85</c:v>
                </c:pt>
                <c:pt idx="3">
                  <c:v>32.42</c:v>
                </c:pt>
              </c:numCache>
            </c:numRef>
          </c:val>
        </c:ser>
        <c:dLbls>
          <c:numFmt formatCode="₹0.0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A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-2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saksham869.github.io/munim/" TargetMode="External"/><Relationship Id="rId2" Type="http://schemas.openxmlformats.org/officeDocument/2006/relationships/hyperlink" Target="https://github.com/saksham869/munim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saksham869.github.io/munim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saksham869.github.io/munim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saksham869.github.io/munim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saksham869.github.io/munim/" TargetMode="External"/><Relationship Id="rId2" Type="http://schemas.openxmlformats.org/officeDocument/2006/relationships/hyperlink" Target="https://saksham869.github.io/munim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saksham869.github.io/munim/" TargetMode="External"/><Relationship Id="rId2" Type="http://schemas.openxmlformats.org/officeDocument/2006/relationships/chart" Target="/ppt/charts/chart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saksham869.github.io/munim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saksham869.github.io/munim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saksham869.github.io/munim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saksham869.github.io/munim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saksham869.github.io/munim/" TargetMode="External"/><Relationship Id="rId2" Type="http://schemas.openxmlformats.org/officeDocument/2006/relationships/hyperlink" Target="https://github.com/saksham869/munim" TargetMode="External"/><Relationship Id="rId3" Type="http://schemas.openxmlformats.org/officeDocument/2006/relationships/hyperlink" Target="mailto:mishrasatyam3456@gmail.com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spc="200" kern="0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BUILD FOR INDIA AI HACKATHON  ·  DELHI      TRACK 1  ·  MERCHANT GROWTH 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Munim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231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600" dirty="0">
                <a:solidFill>
                  <a:srgbClr val="F2D8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CFO for every merchant's AI growth agent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0040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D7D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is giving merchants AI agents that can spend money on growth. Munim decides how much they may spend, makes every offer prove itself, and stops what does not pay.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543800" y="1143000"/>
            <a:ext cx="4023360" cy="3154680"/>
          </a:xfrm>
          <a:prstGeom prst="roundRect">
            <a:avLst>
              <a:gd name="adj" fmla="val 2319"/>
            </a:avLst>
          </a:prstGeom>
          <a:solidFill>
            <a:srgbClr val="2A2A31"/>
          </a:solidFill>
          <a:ln w="9525">
            <a:solidFill>
              <a:srgbClr val="3A3A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0" y="1325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spc="200" kern="0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SOUNDBOX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158191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grahakon ko ₹250+ ke bill par ₹15 cashback bhejein? Kharcha ₹480 tak.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256946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B9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₹15 cashback on ₹250+ bills to 32 customers? It costs up to ₹480.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39319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A9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asked. Munim checked. The owner decides.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0" y="324612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32781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15400" y="324612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55555E"/>
          </a:solidFill>
          <a:ln w="12700">
            <a:solidFill>
              <a:srgbClr val="55555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15400" y="32781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NAHI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257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Satyam Mishra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6509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A9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</a:t>
            </a:r>
            <a:pPr algn="l" indent="0" marL="0">
              <a:lnSpc>
                <a:spcPct val="110000"/>
              </a:lnSpc>
              <a:buNone/>
            </a:pPr>
            <a:r>
              <a:rPr lang="en-US" sz="1500" b="1" u="sng" dirty="0">
                <a:solidFill>
                  <a:srgbClr val="E3A72F"/>
                </a:solidFill>
                <a:uFill>
                  <a:solidFill>
                    <a:srgbClr val="E3A72F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saksham869.github.io/munim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saksham869.github.io/munim</a:t>
            </a:r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</a:t>
            </a:r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A9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</a:t>
            </a:r>
            <a:pPr algn="l" indent="0" marL="0">
              <a:lnSpc>
                <a:spcPct val="110000"/>
              </a:lnSpc>
              <a:buNone/>
            </a:pPr>
            <a:r>
              <a:rPr lang="en-US" sz="1500" b="1" u="sng" dirty="0">
                <a:solidFill>
                  <a:srgbClr val="E3A72F"/>
                </a:solidFill>
                <a:uFill>
                  <a:solidFill>
                    <a:srgbClr val="E3A72F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https://github.com/saksham869/muni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github.com/saksham869/munim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spc="200" kern="0" dirty="0">
                <a:solidFill>
                  <a:srgbClr val="8C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now spend merchants' money. Nobody is the CFO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Munim  ·  Paytm Build for India AI Hackathon, Delhi  ·  Track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583680" y="6419088"/>
            <a:ext cx="4510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</a:t>
            </a:r>
            <a:pPr algn="r" indent="0" marL="0">
              <a:lnSpc>
                <a:spcPct val="110000"/>
              </a:lnSpc>
              <a:buNone/>
            </a:pPr>
            <a:r>
              <a:rPr lang="en-US" sz="900" u="sng" dirty="0">
                <a:solidFill>
                  <a:srgbClr val="8C1C2B"/>
                </a:solidFill>
                <a:uFill>
                  <a:solidFill>
                    <a:srgbClr val="8C1C2B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saksham869.github.io/munim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saksham869.github.io/munim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1.57 Cr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06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paying for Paytm payment devices (Q1 FY27)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06324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Paytm's Pi Sales &amp; Marketing Agent already spends on ads for small businesses: Pi suggests the budget, the owner taps approve. Cashback to a shop's own customers is the next lever, and the riskier one.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4348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an agent a budget and three things go wrong: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120640" y="1783080"/>
            <a:ext cx="6519672" cy="1371600"/>
          </a:xfrm>
          <a:prstGeom prst="roundRect">
            <a:avLst>
              <a:gd name="adj" fmla="val 5333"/>
            </a:avLst>
          </a:prstGeom>
          <a:solidFill>
            <a:srgbClr val="F5F4F2"/>
          </a:solidFill>
          <a:ln w="9525">
            <a:solidFill>
              <a:srgbClr val="DEDB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49240" y="1965960"/>
            <a:ext cx="1344168" cy="274320"/>
          </a:xfrm>
          <a:prstGeom prst="roundRect">
            <a:avLst>
              <a:gd name="adj" fmla="val 50000"/>
            </a:avLst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49240" y="1997964"/>
            <a:ext cx="1344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OVERSPEND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2304288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Cashback bigger than the margin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349240" y="2624328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 back on a ₹100 bill: the shop earns ₹12 and pays out ₹40.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120640" y="3264408"/>
            <a:ext cx="6519672" cy="1371600"/>
          </a:xfrm>
          <a:prstGeom prst="roundRect">
            <a:avLst>
              <a:gd name="adj" fmla="val 5333"/>
            </a:avLst>
          </a:prstGeom>
          <a:solidFill>
            <a:srgbClr val="F5F4F2"/>
          </a:solidFill>
          <a:ln w="9525">
            <a:solidFill>
              <a:srgbClr val="DEDB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49240" y="344728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49240" y="34792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DEADWEIGHT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785616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Paying people who'd come anyway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4105656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51.3% of occasional shoppers return within 14 days on their own. Most cashback sent to them is wasted.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120640" y="4745736"/>
            <a:ext cx="6519672" cy="1371600"/>
          </a:xfrm>
          <a:prstGeom prst="roundRect">
            <a:avLst>
              <a:gd name="adj" fmla="val 5333"/>
            </a:avLst>
          </a:prstGeom>
          <a:solidFill>
            <a:srgbClr val="F5F4F2"/>
          </a:solidFill>
          <a:ln w="9525">
            <a:solidFill>
              <a:srgbClr val="DEDBD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49240" y="4928616"/>
            <a:ext cx="1225296" cy="274320"/>
          </a:xfrm>
          <a:prstGeom prst="roundRect">
            <a:avLst>
              <a:gd name="adj" fmla="val 50000"/>
            </a:avLst>
          </a:prstGeom>
          <a:solidFill>
            <a:srgbClr val="3A3A42"/>
          </a:solidFill>
          <a:ln w="12700">
            <a:solidFill>
              <a:srgbClr val="3A3A4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49240" y="4960620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PROOF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349240" y="5266944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shop can't tell what worked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5349240" y="5586984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comparison groups this small (6 to 9 people in the demo), a shop judging by them alone stops 45% of offers that were making money (1,000 simulated campaigns).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25780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numbers: Munim's run on a synthetic kirana (live demo). Margins are already thin: a distributors' federation estimates about 2 lakh kiranas shut in a year amid quick commerce (AICPDF, 2024). Sources: Paytm Q1 FY27 results, Jul 2026; Paytm blog on Pi, Sep 2026; AI Soundbox: FoneArena, Oct 2025.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spc="200" kern="0" dirty="0">
                <a:solidFill>
                  <a:srgbClr val="8C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Munim: a spending limit and a scorecard for every growth agent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Munim  ·  Paytm Build for India AI Hackathon, Delhi  ·  Track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583680" y="6419088"/>
            <a:ext cx="4510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</a:t>
            </a:r>
            <a:pPr algn="r" indent="0" marL="0">
              <a:lnSpc>
                <a:spcPct val="110000"/>
              </a:lnSpc>
              <a:buNone/>
            </a:pPr>
            <a:r>
              <a:rPr lang="en-US" sz="900" u="sng" dirty="0">
                <a:solidFill>
                  <a:srgbClr val="8C1C2B"/>
                </a:solidFill>
                <a:uFill>
                  <a:solidFill>
                    <a:srgbClr val="8C1C2B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saksham869.github.io/munim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saksham869.github.io/munim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103120" cy="2834640"/>
          </a:xfrm>
          <a:prstGeom prst="roundRect">
            <a:avLst>
              <a:gd name="adj" fmla="val 3478"/>
            </a:avLst>
          </a:prstGeom>
          <a:solidFill>
            <a:srgbClr val="F5F4F2"/>
          </a:solidFill>
          <a:ln w="9525">
            <a:solidFill>
              <a:srgbClr val="DEDB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984248"/>
            <a:ext cx="457200" cy="457200"/>
          </a:xfrm>
          <a:prstGeom prst="ellipse">
            <a:avLst/>
          </a:prstGeom>
          <a:solidFill>
            <a:srgbClr val="1B1B1F"/>
          </a:solidFill>
          <a:ln w="12700">
            <a:solidFill>
              <a:srgbClr val="1B1B1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20665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606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 sets rules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990088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Once, by voice on the Paytm AI Soundbox or in the app: ₹500 a week, keep 6% a bill, ask me above ₹300.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60904" y="3200400"/>
            <a:ext cx="123444" cy="914"/>
          </a:xfrm>
          <a:prstGeom prst="line">
            <a:avLst/>
          </a:prstGeom>
          <a:noFill/>
          <a:ln w="19050">
            <a:solidFill>
              <a:srgbClr val="8C1C2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793492" y="1783080"/>
            <a:ext cx="2103120" cy="2834640"/>
          </a:xfrm>
          <a:prstGeom prst="roundRect">
            <a:avLst>
              <a:gd name="adj" fmla="val 3478"/>
            </a:avLst>
          </a:prstGeom>
          <a:solidFill>
            <a:srgbClr val="F5F4F2"/>
          </a:solidFill>
          <a:ln w="9525">
            <a:solidFill>
              <a:srgbClr val="DEDB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94660" y="1984248"/>
            <a:ext cx="457200" cy="457200"/>
          </a:xfrm>
          <a:prstGeom prst="ellipse">
            <a:avLst/>
          </a:prstGeom>
          <a:solidFill>
            <a:srgbClr val="1B1B1F"/>
          </a:solidFill>
          <a:ln w="12700">
            <a:solidFill>
              <a:srgbClr val="1B1B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94660" y="20665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994660" y="2606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proposes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994660" y="2990088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LLM today, Pi agents later, suggests an offer: who gets it, how much cashback, what minimum bill.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05756" y="3200400"/>
            <a:ext cx="123444" cy="914"/>
          </a:xfrm>
          <a:prstGeom prst="line">
            <a:avLst/>
          </a:prstGeom>
          <a:noFill/>
          <a:ln w="19050">
            <a:solidFill>
              <a:srgbClr val="8C1C2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038344" y="1783080"/>
            <a:ext cx="2103120" cy="2834640"/>
          </a:xfrm>
          <a:prstGeom prst="roundRect">
            <a:avLst>
              <a:gd name="adj" fmla="val 3478"/>
            </a:avLst>
          </a:prstGeom>
          <a:solidFill>
            <a:srgbClr val="FBF3F4"/>
          </a:solidFill>
          <a:ln w="9525">
            <a:solidFill>
              <a:srgbClr val="E7C3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39512" y="1984248"/>
            <a:ext cx="457200" cy="457200"/>
          </a:xfrm>
          <a:prstGeom prst="ellipse">
            <a:avLst/>
          </a:prstGeom>
          <a:solidFill>
            <a:srgbClr val="8C1C2B"/>
          </a:solidFill>
          <a:ln w="12700">
            <a:solidFill>
              <a:srgbClr val="8C1C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39512" y="20665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239512" y="2606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Munim decides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239512" y="2990088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it inside the rules. Hold big spends until the owner taps "Haan". Refuse with the exact fix.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239512" y="4178808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239512" y="421081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843016" y="4178808"/>
            <a:ext cx="530352" cy="274320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843016" y="421081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9944" y="4178808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9944" y="421081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50608" y="3200400"/>
            <a:ext cx="123444" cy="914"/>
          </a:xfrm>
          <a:prstGeom prst="line">
            <a:avLst/>
          </a:prstGeom>
          <a:noFill/>
          <a:ln w="19050">
            <a:solidFill>
              <a:srgbClr val="8C1C2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283196" y="1783080"/>
            <a:ext cx="2103120" cy="2834640"/>
          </a:xfrm>
          <a:prstGeom prst="roundRect">
            <a:avLst>
              <a:gd name="adj" fmla="val 3478"/>
            </a:avLst>
          </a:prstGeom>
          <a:solidFill>
            <a:srgbClr val="F5F4F2"/>
          </a:solidFill>
          <a:ln w="9525">
            <a:solidFill>
              <a:srgbClr val="DEDBD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84364" y="1984248"/>
            <a:ext cx="457200" cy="457200"/>
          </a:xfrm>
          <a:prstGeom prst="ellipse">
            <a:avLst/>
          </a:prstGeom>
          <a:solidFill>
            <a:srgbClr val="1B1B1F"/>
          </a:solidFill>
          <a:ln w="12700">
            <a:solidFill>
              <a:srgbClr val="1B1B1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484364" y="20665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484364" y="2606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Paytm runs it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7484364" y="2990088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signed, single-use passport releases it. 1 in 5 customers don't get it for 14 days, so we can tell if it worked.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395460" y="3200400"/>
            <a:ext cx="123444" cy="914"/>
          </a:xfrm>
          <a:prstGeom prst="line">
            <a:avLst/>
          </a:prstGeom>
          <a:noFill/>
          <a:ln w="19050">
            <a:solidFill>
              <a:srgbClr val="8C1C2B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528048" y="1783080"/>
            <a:ext cx="2103120" cy="2834640"/>
          </a:xfrm>
          <a:prstGeom prst="roundRect">
            <a:avLst>
              <a:gd name="adj" fmla="val 3478"/>
            </a:avLst>
          </a:prstGeom>
          <a:solidFill>
            <a:srgbClr val="F5F4F2"/>
          </a:solidFill>
          <a:ln w="9525">
            <a:solidFill>
              <a:srgbClr val="DEDBD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729216" y="1984248"/>
            <a:ext cx="457200" cy="457200"/>
          </a:xfrm>
          <a:prstGeom prst="ellipse">
            <a:avLst/>
          </a:prstGeom>
          <a:solidFill>
            <a:srgbClr val="1B1B1F"/>
          </a:solidFill>
          <a:ln w="12700">
            <a:solidFill>
              <a:srgbClr val="1B1B1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729216" y="20665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9729216" y="2606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Munim reports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9729216" y="2990088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day 14, in Hinglish on the Soundbox. Run again if it pays; if not, no rerun for 30 days. Unused budget returned.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48640" y="480060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0EEEA"/>
          </a:solidFill>
          <a:ln w="9525">
            <a:solidFill>
              <a:srgbClr val="DEDBD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77240" y="49834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spc="200" kern="0" dirty="0">
                <a:solidFill>
                  <a:srgbClr val="8C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SOUNDBOX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777240" y="52395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"Munim, sab band karo."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777240" y="56052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cancels running offers and holds every new one for your yes.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263640" y="4800600"/>
            <a:ext cx="5376672" cy="1371600"/>
          </a:xfrm>
          <a:prstGeom prst="roundRect">
            <a:avLst>
              <a:gd name="adj" fmla="val 5333"/>
            </a:avLst>
          </a:prstGeom>
          <a:solidFill>
            <a:srgbClr val="F5F4F2"/>
          </a:solidFill>
          <a:ln w="9525">
            <a:solidFill>
              <a:srgbClr val="DEDBD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492240" y="49834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spc="200" kern="0" dirty="0">
                <a:solidFill>
                  <a:srgbClr val="8C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LEDGER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6492240" y="52578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proposal, decision, approval, payout and result is hash-chained and sealed with Munim's key. An edit breaks the chain; a full rewrite fails the seals.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spc="200" kern="0" dirty="0">
                <a:solidFill>
                  <a:srgbClr val="8C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proposes. Munim, with no LLM inside, decides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Munim  ·  Paytm Build for India AI Hackathon, Delhi  ·  Track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583680" y="6419088"/>
            <a:ext cx="4510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</a:t>
            </a:r>
            <a:pPr algn="r" indent="0" marL="0">
              <a:lnSpc>
                <a:spcPct val="110000"/>
              </a:lnSpc>
              <a:buNone/>
            </a:pPr>
            <a:r>
              <a:rPr lang="en-US" sz="900" u="sng" dirty="0">
                <a:solidFill>
                  <a:srgbClr val="8C1C2B"/>
                </a:solidFill>
                <a:uFill>
                  <a:solidFill>
                    <a:srgbClr val="8C1C2B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saksham869.github.io/munim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saksham869.github.io/munim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F5F4F2"/>
          </a:solidFill>
          <a:ln w="9525">
            <a:solidFill>
              <a:srgbClr val="DEDBD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8928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Paytm payments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194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months of UPI and card payments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78308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5F4F2"/>
          </a:solidFill>
          <a:ln w="9525">
            <a:solidFill>
              <a:srgbClr val="DEDBD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8928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Trusted insights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Segments, how often they return on their own, typical bill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26080" y="2212848"/>
            <a:ext cx="365760" cy="914"/>
          </a:xfrm>
          <a:prstGeom prst="line">
            <a:avLst/>
          </a:prstGeom>
          <a:noFill/>
          <a:ln w="19050">
            <a:solidFill>
              <a:srgbClr val="6B6B7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48640" y="301752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FFF6E5"/>
          </a:solidFill>
          <a:ln w="9525">
            <a:solidFill>
              <a:srgbClr val="EBCB8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1272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agent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4290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LLM today, Pi agents later. Untrusted. Holds no money and no keys.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288036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8C1C2B"/>
          </a:solidFill>
          <a:ln w="9525">
            <a:solidFill>
              <a:srgbClr val="8C1C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29000" y="29900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Munim policy engine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32918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9D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floor · weekly budget · payback counting deadweight · consent · offer frequency · comparison group · kill switch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651760"/>
            <a:ext cx="914" cy="228600"/>
          </a:xfrm>
          <a:prstGeom prst="line">
            <a:avLst/>
          </a:prstGeom>
          <a:noFill/>
          <a:ln w="19050">
            <a:solidFill>
              <a:srgbClr val="6B6B7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926080" y="3566160"/>
            <a:ext cx="365760" cy="914"/>
          </a:xfrm>
          <a:prstGeom prst="line">
            <a:avLst/>
          </a:prstGeom>
          <a:noFill/>
          <a:ln w="19050">
            <a:solidFill>
              <a:srgbClr val="8C1C2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H="1">
            <a:off x="2514600" y="2651760"/>
            <a:ext cx="777240" cy="365760"/>
          </a:xfrm>
          <a:prstGeom prst="line">
            <a:avLst/>
          </a:prstGeom>
          <a:noFill/>
          <a:ln w="12700">
            <a:solidFill>
              <a:srgbClr val="6B6B73"/>
            </a:solidFill>
            <a:prstDash val="dash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263640" y="2926080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63640" y="295808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63640" y="3429000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63640" y="34610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63640" y="3931920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63640" y="396392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3566160"/>
            <a:ext cx="228600" cy="914"/>
          </a:xfrm>
          <a:prstGeom prst="line">
            <a:avLst/>
          </a:prstGeom>
          <a:noFill/>
          <a:ln w="19050">
            <a:solidFill>
              <a:srgbClr val="6B6B73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7059168" y="33101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owner's haan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7022592" y="396849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fix to the agent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49440" y="3063240"/>
            <a:ext cx="1463040" cy="914"/>
          </a:xfrm>
          <a:prstGeom prst="line">
            <a:avLst/>
          </a:prstGeom>
          <a:noFill/>
          <a:ln w="19050">
            <a:solidFill>
              <a:srgbClr val="1F7A4D"/>
            </a:solidFill>
            <a:prstDash val="solid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6949440" y="3566160"/>
            <a:ext cx="1463040" cy="914"/>
          </a:xfrm>
          <a:prstGeom prst="line">
            <a:avLst/>
          </a:prstGeom>
          <a:noFill/>
          <a:ln w="19050">
            <a:solidFill>
              <a:srgbClr val="1F7A4D"/>
            </a:solidFill>
            <a:prstDash val="solid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8412480" y="3063240"/>
            <a:ext cx="914" cy="1325880"/>
          </a:xfrm>
          <a:prstGeom prst="line">
            <a:avLst/>
          </a:prstGeom>
          <a:noFill/>
          <a:ln w="19050">
            <a:solidFill>
              <a:srgbClr val="1F7A4D"/>
            </a:solidFill>
            <a:prstDash val="solid"/>
            <a:tailEnd type="none"/>
          </a:ln>
        </p:spPr>
      </p:sp>
      <p:sp>
        <p:nvSpPr>
          <p:cNvPr id="35" name="Shape 33"/>
          <p:cNvSpPr/>
          <p:nvPr/>
        </p:nvSpPr>
        <p:spPr>
          <a:xfrm flipH="1">
            <a:off x="1463040" y="4389120"/>
            <a:ext cx="6949440" cy="914"/>
          </a:xfrm>
          <a:prstGeom prst="line">
            <a:avLst/>
          </a:prstGeom>
          <a:noFill/>
          <a:ln w="19050">
            <a:solidFill>
              <a:srgbClr val="1F7A4D"/>
            </a:solidFill>
            <a:prstDash val="solid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1463040" y="4389120"/>
            <a:ext cx="914" cy="182880"/>
          </a:xfrm>
          <a:prstGeom prst="line">
            <a:avLst/>
          </a:prstGeom>
          <a:noFill/>
          <a:ln w="19050">
            <a:solidFill>
              <a:srgbClr val="1F7A4D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48640" y="457200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5F4F2"/>
          </a:solidFill>
          <a:ln w="9525">
            <a:solidFill>
              <a:srgbClr val="DEDBD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5800" y="4681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passport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85800" y="4983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HMAC-signed, single use, expires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377440" y="5047488"/>
            <a:ext cx="182880" cy="914"/>
          </a:xfrm>
          <a:prstGeom prst="line">
            <a:avLst/>
          </a:prstGeom>
          <a:noFill/>
          <a:ln w="19050">
            <a:solidFill>
              <a:srgbClr val="6B6B73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2560320" y="457200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5F4F2"/>
          </a:solidFill>
          <a:ln w="9525">
            <a:solidFill>
              <a:srgbClr val="DEDBD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697480" y="4681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Paytm offer rails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2697480" y="4983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Cashback to chosen customers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389120" y="5047488"/>
            <a:ext cx="182880" cy="914"/>
          </a:xfrm>
          <a:prstGeom prst="line">
            <a:avLst/>
          </a:prstGeom>
          <a:noFill/>
          <a:ln w="19050">
            <a:solidFill>
              <a:srgbClr val="6B6B73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4572000" y="457200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5F4F2"/>
          </a:solidFill>
          <a:ln w="9525">
            <a:solidFill>
              <a:srgbClr val="DEDBD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709160" y="4681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Measurement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4709160" y="4983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vs pooled baseline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400800" y="5047488"/>
            <a:ext cx="182880" cy="914"/>
          </a:xfrm>
          <a:prstGeom prst="line">
            <a:avLst/>
          </a:prstGeom>
          <a:noFill/>
          <a:ln w="19050">
            <a:solidFill>
              <a:srgbClr val="6B6B73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583680" y="457200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5F4F2"/>
          </a:solidFill>
          <a:ln w="9525">
            <a:solidFill>
              <a:srgbClr val="DEDBD5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720840" y="4681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Soundbox report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6720840" y="4983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Hinglish; numbers from the ledger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48640" y="5715000"/>
            <a:ext cx="7863840" cy="384048"/>
          </a:xfrm>
          <a:prstGeom prst="rect">
            <a:avLst/>
          </a:prstGeom>
          <a:solidFill>
            <a:srgbClr val="F0EEEA"/>
          </a:solidFill>
          <a:ln w="9525">
            <a:solidFill>
              <a:srgbClr val="DEDBD5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85800" y="578815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hash-chained ledger under every step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8641080" y="1783080"/>
            <a:ext cx="2999232" cy="4315968"/>
          </a:xfrm>
          <a:prstGeom prst="roundRect">
            <a:avLst>
              <a:gd name="adj" fmla="val 2439"/>
            </a:avLst>
          </a:prstGeom>
          <a:solidFill>
            <a:srgbClr val="FBF3F4"/>
          </a:solidFill>
          <a:ln w="9525">
            <a:solidFill>
              <a:srgbClr val="E7C3C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869680" y="1965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200" kern="0" dirty="0">
                <a:solidFill>
                  <a:srgbClr val="8C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8869680" y="233172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never touches money or keys.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8869680" y="306324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come from Paytm data, never from the agent.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8869680" y="379476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can't pick who is held back: the split is salted with a secret.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8869680" y="452628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error inside Munim means no.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8869680" y="525780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Soundbox numbers come from the ledger, never from the model.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spc="200" kern="0" dirty="0">
                <a:solidFill>
                  <a:srgbClr val="8C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ONE RUN, EVERY NUMBER FROM THE ENGINE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decisions on a synthetic kirana in Ghaziabad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Munim  ·  Paytm Build for India AI Hackathon, Delhi  ·  Track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583680" y="6419088"/>
            <a:ext cx="4510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</a:t>
            </a:r>
            <a:pPr algn="r" indent="0" marL="0">
              <a:lnSpc>
                <a:spcPct val="110000"/>
              </a:lnSpc>
              <a:buNone/>
            </a:pPr>
            <a:r>
              <a:rPr lang="en-US" sz="900" u="sng" dirty="0">
                <a:solidFill>
                  <a:srgbClr val="8C1C2B"/>
                </a:solidFill>
                <a:uFill>
                  <a:solidFill>
                    <a:srgbClr val="8C1C2B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saksham869.github.io/munim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saksham869.github.io/munim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63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Sharma General Store (synthetic): 650 customers, 13,772 payments in 6 months. 48 regulars stopped coming; they used to spend about ₹1,28,000 a month.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3593592" cy="1847088"/>
          </a:xfrm>
          <a:prstGeom prst="roundRect">
            <a:avLst>
              <a:gd name="adj" fmla="val 3960"/>
            </a:avLst>
          </a:prstGeom>
          <a:solidFill>
            <a:srgbClr val="F5F4F2"/>
          </a:solidFill>
          <a:ln w="9525">
            <a:solidFill>
              <a:srgbClr val="DEDB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10312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135124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593592" y="21214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2468880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Agent: ₹40 back on any bill over ₹100, nobody held back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2999232"/>
            <a:ext cx="31912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reasons, each with a fix: at most ₹6 at that bill (try ₹15 on ₹250+) · hold back 20% · ₹1,280 is over the ₹500 budget · loses money even if all return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97680" y="1920240"/>
            <a:ext cx="3593592" cy="1847088"/>
          </a:xfrm>
          <a:prstGeom prst="roundRect">
            <a:avLst>
              <a:gd name="adj" fmla="val 3960"/>
            </a:avLst>
          </a:prstGeom>
          <a:solidFill>
            <a:srgbClr val="F5F4F2"/>
          </a:solidFill>
          <a:ln w="9525">
            <a:solidFill>
              <a:srgbClr val="DEDB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98848" y="210312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98848" y="2135124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342632" y="21214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498848" y="2468880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Replan: ₹15 back on ₹250+, 32 customers, 9 held back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498848" y="2999232"/>
            <a:ext cx="31912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 ₹480 is above the ₹300 limit. Owner taps "Haan"; Munim re-checks, then releases it.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46720" y="1920240"/>
            <a:ext cx="3593592" cy="1847088"/>
          </a:xfrm>
          <a:prstGeom prst="roundRect">
            <a:avLst>
              <a:gd name="adj" fmla="val 3960"/>
            </a:avLst>
          </a:prstGeom>
          <a:solidFill>
            <a:srgbClr val="F5F4F2"/>
          </a:solidFill>
          <a:ln w="9525">
            <a:solidFill>
              <a:srgbClr val="DEDB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47888" y="210312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47888" y="2135124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091672" y="21214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247888" y="2468880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Agent: ₹12 back for occasional shoppers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247888" y="2999232"/>
            <a:ext cx="31912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51.3% come back anyway; breaking even needs 29.0 pp more. Most it can be: ₹10.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3931920"/>
            <a:ext cx="3593592" cy="1847088"/>
          </a:xfrm>
          <a:prstGeom prst="roundRect">
            <a:avLst>
              <a:gd name="adj" fmla="val 3960"/>
            </a:avLst>
          </a:prstGeom>
          <a:solidFill>
            <a:srgbClr val="F5F4F2"/>
          </a:solidFill>
          <a:ln w="9525">
            <a:solidFill>
              <a:srgbClr val="DEDB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808" y="411480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9808" y="414680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593592" y="413308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49808" y="4480560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₹10 back on ₹200+, 22 customers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49808" y="5010912"/>
            <a:ext cx="31912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every rule (worst case ₹220), so it runs without asking. It is still measured.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297680" y="3931920"/>
            <a:ext cx="3593592" cy="1847088"/>
          </a:xfrm>
          <a:prstGeom prst="roundRect">
            <a:avLst>
              <a:gd name="adj" fmla="val 3960"/>
            </a:avLst>
          </a:prstGeom>
          <a:solidFill>
            <a:srgbClr val="F5F4F2"/>
          </a:solidFill>
          <a:ln w="9525">
            <a:solidFill>
              <a:srgbClr val="DEDB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98848" y="4114800"/>
            <a:ext cx="1106424" cy="274320"/>
          </a:xfrm>
          <a:prstGeom prst="roundRect">
            <a:avLst>
              <a:gd name="adj" fmla="val 50000"/>
            </a:avLst>
          </a:prstGeom>
          <a:solidFill>
            <a:srgbClr val="3A3A42"/>
          </a:solidFill>
          <a:ln w="12700">
            <a:solidFill>
              <a:srgbClr val="3A3A4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498848" y="4146804"/>
            <a:ext cx="1106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STOPPED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7342632" y="413308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498848" y="4480560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21: the ₹10 nudge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498848" y="5010912"/>
            <a:ext cx="31912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₹110 spent, 12% chance it made money. Verdict: stop. The agent can't rerun it for 30 days; ₹110 back in the budget.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046720" y="3931920"/>
            <a:ext cx="3593592" cy="1847088"/>
          </a:xfrm>
          <a:prstGeom prst="roundRect">
            <a:avLst>
              <a:gd name="adj" fmla="val 3960"/>
            </a:avLst>
          </a:prstGeom>
          <a:solidFill>
            <a:srgbClr val="F5F4F2"/>
          </a:solidFill>
          <a:ln w="9525">
            <a:solidFill>
              <a:srgbClr val="DEDBD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47888" y="411480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247888" y="4146804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1091672" y="413308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47888" y="4480560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Kill switch: "Munim, sab band karo"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8247888" y="5010912"/>
            <a:ext cx="31912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agent's next offer (worst case ₹120) would have been allowed. Now it waits for the owner.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598932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8C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Ledger: 20 entries, intact. Change one verdict and the chain breaks at entry 17.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7315200" y="5989320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it yourself  </a:t>
            </a:r>
            <a:pPr algn="r" indent="0" marL="0">
              <a:lnSpc>
                <a:spcPct val="110000"/>
              </a:lnSpc>
              <a:buNone/>
            </a:pPr>
            <a:r>
              <a:rPr lang="en-US" sz="1200" u="sng" dirty="0">
                <a:solidFill>
                  <a:srgbClr val="8C1C2B"/>
                </a:solidFill>
                <a:uFill>
                  <a:solidFill>
                    <a:srgbClr val="8C1C2B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https://saksham869.github.io/munim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saksham869.github.io/munim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spc="200" kern="0" dirty="0">
                <a:solidFill>
                  <a:srgbClr val="8C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PROOF, NOT CLAIMS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shop's comparison group is too small. A pooled one is not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Munim  ·  Paytm Build for India AI Hackathon, Delhi  ·  Track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583680" y="6419088"/>
            <a:ext cx="4510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</a:t>
            </a:r>
            <a:pPr algn="r" indent="0" marL="0">
              <a:lnSpc>
                <a:spcPct val="110000"/>
              </a:lnSpc>
              <a:buNone/>
            </a:pPr>
            <a:r>
              <a:rPr lang="en-US" sz="900" u="sng" dirty="0">
                <a:solidFill>
                  <a:srgbClr val="8C1C2B"/>
                </a:solidFill>
                <a:uFill>
                  <a:solidFill>
                    <a:srgbClr val="8C1C2B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saksham869.github.io/munim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saksham869.github.io/munim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run, two ways to judge it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60350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234440"/>
                <a:gridCol w="1600200"/>
                <a:gridCol w="1783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Truth (simulated)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Shop's own 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Munim, pooled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back regulars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Works: +20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it (6% chance it paid)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measuring (56% chance it paid)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Nudge occasional shoppers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nothing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it (90% chance it paid)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it (12% chance it paid)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48640" y="395020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run, picked to illustrate: by chance 5 of 9 held-back regulars came back anyway, and 0 of 6 occasional shoppers did. The 1,000-campaign test is the evidence.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2011680" y="486460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keep/stop calls</a:t>
            </a:r>
            <a:endParaRPr lang="en-US" sz="11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(shop's own group: 68%)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3703320" y="4754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24%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5074920" y="481888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profitable offers wrongly stopped (shop's own group: 45%)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596128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simulated campaigns with known truth; pooling also won on 5 of 5 more random seeds. Honest costs: it keeps slightly more losing offers (25% vs 23%), and a pooled rate 5 points too low (a festival fortnight, say) erases the gain, so the rate must come from recent, comparable history.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6903720" y="1691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profit per campaign (₹)</a:t>
            </a:r>
            <a:endParaRPr lang="en-US" sz="16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812280" y="2011680"/>
          <a:ext cx="48463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6903720" y="5623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of the keep-or-stop call on each offer's next run, when 40% of offers do nothing.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spc="200" kern="0" dirty="0">
                <a:solidFill>
                  <a:srgbClr val="8C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/ TECH STACK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Small, deterministic, and ready to plug into Paytm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Munim  ·  Paytm Build for India AI Hackathon, Delhi  ·  Track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583680" y="6419088"/>
            <a:ext cx="4510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</a:t>
            </a:r>
            <a:pPr algn="r" indent="0" marL="0">
              <a:lnSpc>
                <a:spcPct val="110000"/>
              </a:lnSpc>
              <a:buNone/>
            </a:pPr>
            <a:r>
              <a:rPr lang="en-US" sz="900" u="sng" dirty="0">
                <a:solidFill>
                  <a:srgbClr val="8C1C2B"/>
                </a:solidFill>
                <a:uFill>
                  <a:solidFill>
                    <a:srgbClr val="8C1C2B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saksham869.github.io/munim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saksham869.github.io/munim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400800" cy="4343400"/>
          </a:xfrm>
          <a:prstGeom prst="roundRect">
            <a:avLst>
              <a:gd name="adj" fmla="val 1684"/>
            </a:avLst>
          </a:prstGeom>
          <a:solidFill>
            <a:srgbClr val="F5F4F2"/>
          </a:solidFill>
          <a:ln w="9525">
            <a:solidFill>
              <a:srgbClr val="DEDBD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965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200" kern="0" dirty="0">
                <a:solidFill>
                  <a:srgbClr val="8C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BUILT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2331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integer paise and basis points, no dependencies, fails closed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7889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27889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Beta-binomial posteriors, pooled baselines, profit-probability verdicts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246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468880" y="32461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passports, race-safe weekly budget, kill switch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703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468880" y="37033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 chain, verified in one call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160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41605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FastAPI; boots on a synthetic kirana with zero setup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617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adapter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468880" y="4617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OpenAI-compatible endpoint; output parsed strictly, never trusted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0749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468880" y="50749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rules mirrored in JavaScript, parity-tested against the Python engine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532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468880" y="55321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automated tests (pytest)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178040" y="1783080"/>
            <a:ext cx="4462272" cy="4343400"/>
          </a:xfrm>
          <a:prstGeom prst="roundRect">
            <a:avLst>
              <a:gd name="adj" fmla="val 1684"/>
            </a:avLst>
          </a:prstGeom>
          <a:solidFill>
            <a:srgbClr val="FBF3F4"/>
          </a:solidFill>
          <a:ln w="9525">
            <a:solidFill>
              <a:srgbClr val="E7C3C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52360" y="1965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200" kern="0" dirty="0">
                <a:solidFill>
                  <a:srgbClr val="8C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PLUGS INTO PAYTM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Soundbox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452360" y="26700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and touchscreen, 11 languages; the app for older boxes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7452360" y="3108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 Agents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452360" y="34015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Pi suggests ad budgets; Munim checks the offers step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7452360" y="3840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Payments data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452360" y="41330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Segments, return rates, typical bills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7452360" y="4572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Offer rails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452360" y="48646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Cashback to Paytm payers who opted in (mock in demo)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7452360" y="5303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 Business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7452360" y="55961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connected by Pi's marketing agent for leads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spc="200" kern="0" dirty="0">
                <a:solidFill>
                  <a:srgbClr val="8C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stop bad prompts. Munim stops bad spending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Munim  ·  Paytm Build for India AI Hackathon, Delhi  ·  Track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583680" y="6419088"/>
            <a:ext cx="4510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</a:t>
            </a:r>
            <a:pPr algn="r" indent="0" marL="0">
              <a:lnSpc>
                <a:spcPct val="110000"/>
              </a:lnSpc>
              <a:buNone/>
            </a:pPr>
            <a:r>
              <a:rPr lang="en-US" sz="900" u="sng" dirty="0">
                <a:solidFill>
                  <a:srgbClr val="8C1C2B"/>
                </a:solidFill>
                <a:uFill>
                  <a:solidFill>
                    <a:srgbClr val="8C1C2B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saksham869.github.io/munim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saksham869.github.io/munim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8C1C2B"/>
          </a:solidFill>
          <a:ln w="12700">
            <a:solidFill>
              <a:srgbClr val="8C1C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92938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7830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 authority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12140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controls like Google's AP2 cap amount, payee and time; Pi asks the owner to approve a budget. None checks margin, deadweight or a comparison group.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8C1C2B"/>
          </a:solidFill>
          <a:ln w="12700">
            <a:solidFill>
              <a:srgbClr val="8C1C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7980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6517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Deadweight-aware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99008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cashback paid to customers who'd come anyway, and refuses offers that can't pay back.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8C1C2B"/>
          </a:solidFill>
          <a:ln w="12700">
            <a:solidFill>
              <a:srgbClr val="8C1C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66674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5204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by default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85876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offer keeps a comparison group, and the agent cannot choose who is in it.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E3A72F"/>
          </a:solidFill>
          <a:ln w="12700">
            <a:solidFill>
              <a:srgbClr val="E3A72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5354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43891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Pooled baselines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72744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30-customer campaign into a decision: the shop's own history where it has enough, similar Paytm shops where it doesn't.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5303520"/>
            <a:ext cx="502920" cy="502920"/>
          </a:xfrm>
          <a:prstGeom prst="ellipse">
            <a:avLst/>
          </a:prstGeom>
          <a:solidFill>
            <a:srgbClr val="8C1C2B"/>
          </a:solidFill>
          <a:ln w="12700">
            <a:solidFill>
              <a:srgbClr val="8C1C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540410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52578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by construction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559612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 in the money path. Errors mean no. Every decision in a tamper-evident ledger.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8001000" y="1783080"/>
            <a:ext cx="3639312" cy="4206240"/>
          </a:xfrm>
          <a:prstGeom prst="roundRect">
            <a:avLst>
              <a:gd name="adj" fmla="val 2010"/>
            </a:avLst>
          </a:prstGeom>
          <a:solidFill>
            <a:srgbClr val="F0EEEA"/>
          </a:solidFill>
          <a:ln w="9525">
            <a:solidFill>
              <a:srgbClr val="DEDBD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0" y="1965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spc="200" kern="0" dirty="0">
                <a:solidFill>
                  <a:srgbClr val="8C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OWNER'S APP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0" y="2221992"/>
            <a:ext cx="31821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ka ₹40 wala offer roka: ismein ghaata tha. ₹250+ par ₹15 wala offer aapki manzoori ke liye taiyaar.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3621024"/>
            <a:ext cx="3182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agent's ₹40 offer was refused: it would lose money. A ₹15 offer on ₹250+ bills is ready for your OK.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5623560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Refusals and margins go to the app, never out loud at the counter.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spc="200" kern="0" dirty="0">
                <a:solidFill>
                  <a:srgbClr val="8C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BENEFITS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that merchants, Paytm and customers can all trust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Munim  ·  Paytm Build for India AI Hackathon, Delhi  ·  Track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583680" y="6419088"/>
            <a:ext cx="4510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</a:t>
            </a:r>
            <a:pPr algn="r" indent="0" marL="0">
              <a:lnSpc>
                <a:spcPct val="110000"/>
              </a:lnSpc>
              <a:buNone/>
            </a:pPr>
            <a:r>
              <a:rPr lang="en-US" sz="900" u="sng" dirty="0">
                <a:solidFill>
                  <a:srgbClr val="8C1C2B"/>
                </a:solidFill>
                <a:uFill>
                  <a:solidFill>
                    <a:srgbClr val="8C1C2B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saksham869.github.io/munim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saksham869.github.io/munim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593592" cy="3017520"/>
          </a:xfrm>
          <a:prstGeom prst="roundRect">
            <a:avLst>
              <a:gd name="adj" fmla="val 2424"/>
            </a:avLst>
          </a:prstGeom>
          <a:solidFill>
            <a:srgbClr val="F5F4F2"/>
          </a:solidFill>
          <a:ln w="9525">
            <a:solidFill>
              <a:srgbClr val="DEDBD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20116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200" kern="0" dirty="0">
                <a:solidFill>
                  <a:srgbClr val="8C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286000"/>
            <a:ext cx="3136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without the guesswork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3017520"/>
            <a:ext cx="3136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weekly cap (₹500 in the demo)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6% kept on a bill at your usual margin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in Hinglish when each offer ends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One-sentence kill switch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97680" y="1783080"/>
            <a:ext cx="3593592" cy="3017520"/>
          </a:xfrm>
          <a:prstGeom prst="roundRect">
            <a:avLst>
              <a:gd name="adj" fmla="val 2424"/>
            </a:avLst>
          </a:prstGeom>
          <a:solidFill>
            <a:srgbClr val="FBF3F4"/>
          </a:solidFill>
          <a:ln w="9525">
            <a:solidFill>
              <a:srgbClr val="E7C3C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53712" y="20116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200" kern="0" dirty="0">
                <a:solidFill>
                  <a:srgbClr val="8C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2286000"/>
            <a:ext cx="3136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merchants keep paying for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53712" y="3017520"/>
            <a:ext cx="3136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lift that makes Pi Agents worth paying for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"the agent wasted my money" escalations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campaign sharpens the network baseline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 path to agent-to-agent payments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46720" y="1783080"/>
            <a:ext cx="3593592" cy="3017520"/>
          </a:xfrm>
          <a:prstGeom prst="roundRect">
            <a:avLst>
              <a:gd name="adj" fmla="val 2424"/>
            </a:avLst>
          </a:prstGeom>
          <a:solidFill>
            <a:srgbClr val="F5F4F2"/>
          </a:solidFill>
          <a:ln w="9525">
            <a:solidFill>
              <a:srgbClr val="DEDBD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02752" y="20116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200" kern="0" dirty="0">
                <a:solidFill>
                  <a:srgbClr val="8C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302752" y="2286000"/>
            <a:ext cx="3136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Offers, not spam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02752" y="3017520"/>
            <a:ext cx="3136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customers who opted in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most 2 offers in 30 days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sized so the shop stays healthy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Hinglish messages, clear terms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1B1B1F"/>
          </a:solidFill>
          <a:ln w="9525">
            <a:solidFill>
              <a:srgbClr val="1B1B1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23036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2D8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₹1,280  →  ₹480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4480560" y="5193792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 of the agent's first offer vs the replanned offer the owner approved; the first would lose money even if every customer came back. In simulation: ₹15.85 per campaign vs -₹17.85 keeping every offer.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spc="200" kern="0" dirty="0">
                <a:solidFill>
                  <a:srgbClr val="8C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(PROPOSED)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of Pi Agents, so agent-run offers are safe to sell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Munim  ·  Paytm Build for India AI Hackathon, Delhi  ·  Track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583680" y="6419088"/>
            <a:ext cx="4510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</a:t>
            </a:r>
            <a:pPr algn="r" indent="0" marL="0">
              <a:lnSpc>
                <a:spcPct val="110000"/>
              </a:lnSpc>
              <a:buNone/>
            </a:pPr>
            <a:r>
              <a:rPr lang="en-US" sz="900" u="sng" dirty="0">
                <a:solidFill>
                  <a:srgbClr val="8C1C2B"/>
                </a:solidFill>
                <a:uFill>
                  <a:solidFill>
                    <a:srgbClr val="8C1C2B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saksham869.github.io/munim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saksham869.github.io/munim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5F4F2"/>
          </a:solidFill>
          <a:ln w="9525">
            <a:solidFill>
              <a:srgbClr val="DEDBD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20116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Bundled into Pi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4231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Munim would ship inside Pi Agents for small businesses. Merchants pay for agent-run offers; the checks come with them.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160520" y="178308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5F4F2"/>
          </a:solidFill>
          <a:ln w="9525">
            <a:solidFill>
              <a:srgbClr val="DEDBD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16552" y="20116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Paytm gets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416552" y="24231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Cashback offers it can sell to a kirana, with the owner's weekly budget as the worst case. The cashback moves on Paytm's rails.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5F4F2"/>
          </a:solidFill>
          <a:ln w="9525">
            <a:solidFill>
              <a:srgbClr val="DEDBD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41148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 fee, later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5262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a small share of measured net gain. The keep-or-stop rules are fixed before an offer runs, and the owner can recheck every verdict in the ledger.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160520" y="388620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5F4F2"/>
          </a:solidFill>
          <a:ln w="9525">
            <a:solidFill>
              <a:srgbClr val="DEDBD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16552" y="41148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before pricing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416552" y="45262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kiranas for 8 weeks with Paytm, measuring reachable customers per shop, how often owners tap Haan, and the risky spend Munim refused.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909560" y="1783080"/>
            <a:ext cx="3730752" cy="4023360"/>
          </a:xfrm>
          <a:prstGeom prst="roundRect">
            <a:avLst>
              <a:gd name="adj" fmla="val 1961"/>
            </a:avLst>
          </a:prstGeom>
          <a:solidFill>
            <a:srgbClr val="1B1B1F"/>
          </a:solidFill>
          <a:ln w="9525">
            <a:solidFill>
              <a:srgbClr val="1B1B1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83880" y="20116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200" kern="0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SCALE, ILLUSTRATED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183880" y="23774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₹18.6 Cr</a:t>
            </a:r>
            <a:endParaRPr lang="en-US" sz="4600" dirty="0"/>
          </a:p>
        </p:txBody>
      </p:sp>
      <p:sp>
        <p:nvSpPr>
          <p:cNvPr id="22" name="Text 20"/>
          <p:cNvSpPr txBox="1"/>
          <p:nvPr/>
        </p:nvSpPr>
        <p:spPr>
          <a:xfrm>
            <a:off x="8183880" y="32004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D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year if 1% of the 1.57 Cr merchants on Paytm devices paid ₹99 a month for agent-run offers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183880" y="40416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9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1.57 lakh × ₹99 × 12 ≈ ₹18.6 Cr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183880" y="440740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A9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illustration, not a forecast. The ₹99 price and the 1% uptake are assumptions for the pilot to test.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183880" y="51389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cost: near zero. Decisions are arithmetic, with no model call.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the agent grow the shop.</a:t>
            </a:r>
            <a:endParaRPr lang="en-US" sz="4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Munim keeps the money safe.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060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spc="200" kern="0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RUNNING TODAY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7D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Policy engine, measurement, passports, sealed ledger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3832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7D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180 automated tests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94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7D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1,000-campaign evaluation with robustness checks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062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7D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Live demo, API, import of your own payments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6060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spc="200" kern="0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NEXT, FOR 31 OCTOBER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9718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7D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Live LLM agent proposing in the demo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33832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7D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The shop's own history in the measurement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3794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7D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Hindi voice for rules and "sab band karo"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42062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7D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Approval screen for the owner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46451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A9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Paytm, after the event: real cohorts, offer rails, consent.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709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E3A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120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Satyam Mishra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532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A9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</a:t>
            </a:r>
            <a:pPr algn="l" indent="0" marL="0">
              <a:lnSpc>
                <a:spcPct val="110000"/>
              </a:lnSpc>
              <a:buNone/>
            </a:pPr>
            <a:r>
              <a:rPr lang="en-US" sz="1400" b="1" u="sng" dirty="0">
                <a:solidFill>
                  <a:srgbClr val="E3A72F"/>
                </a:solidFill>
                <a:uFill>
                  <a:solidFill>
                    <a:srgbClr val="E3A72F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saksham869.github.io/munim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saksham869.github.io/munim</a:t>
            </a:r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</a:t>
            </a:r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A9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</a:t>
            </a:r>
            <a:pPr algn="l" indent="0" marL="0">
              <a:lnSpc>
                <a:spcPct val="110000"/>
              </a:lnSpc>
              <a:buNone/>
            </a:pPr>
            <a:r>
              <a:rPr lang="en-US" sz="1400" b="1" u="sng" dirty="0">
                <a:solidFill>
                  <a:srgbClr val="E3A72F"/>
                </a:solidFill>
                <a:uFill>
                  <a:solidFill>
                    <a:srgbClr val="E3A72F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https://github.com/saksham869/muni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github.com/saksham869/munim</a:t>
            </a:r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</a:t>
            </a:r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A9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 </a:t>
            </a:r>
            <a:pPr algn="l" indent="0" marL="0">
              <a:lnSpc>
                <a:spcPct val="110000"/>
              </a:lnSpc>
              <a:buNone/>
            </a:pPr>
            <a:r>
              <a:rPr lang="en-US" sz="1400" b="1" u="sng" dirty="0">
                <a:solidFill>
                  <a:srgbClr val="E3A72F"/>
                </a:solidFill>
                <a:uFill>
                  <a:solidFill>
                    <a:srgbClr val="E3A72F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mailto:mishrasatyam3456@gmail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mishrasatyam3456@gmail.com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7C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data is synthetic. The offer API is a mock. Munim is an independent hackathon project, not a Paytm product.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Munim — Paytm Build for India AI Hackathon, Track 1</dc:title>
  <dc:subject>PptxGenJS Presentation</dc:subject>
  <dc:creator>Satyam Mishra</dc:creator>
  <cp:lastModifiedBy>Satyam Mishra</cp:lastModifiedBy>
  <cp:revision>1</cp:revision>
  <dcterms:created xsi:type="dcterms:W3CDTF">2026-10-23T17:51:14Z</dcterms:created>
  <dcterms:modified xsi:type="dcterms:W3CDTF">2026-10-23T17:51:14Z</dcterms:modified>
</cp:coreProperties>
</file>